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</c:v>
                </c:pt>
                <c:pt idx="1">
                  <c:v>51</c:v>
                </c:pt>
                <c:pt idx="2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Cash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FY24</c:v>
                  </c:pt>
                  <c:pt idx="1">
                    <c:v>FY25</c:v>
                  </c:pt>
                  <c:pt idx="2">
                    <c:v>FY26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</c:v>
                </c:pt>
                <c:pt idx="1">
                  <c:v>15</c:v>
                </c:pt>
                <c:pt idx="2">
                  <c:v>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465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Digital COO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68580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Digital COO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tour for the AI command center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76272"/>
            <a:ext cx="4937760" cy="27432"/>
          </a:xfrm>
          <a:prstGeom prst="rect">
            <a:avLst/>
          </a:prstGeom>
          <a:solidFill>
            <a:srgbClr val="7C3AED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777240"/>
            <a:ext cx="5010912" cy="40690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777240"/>
            <a:ext cx="5010912" cy="530352"/>
          </a:xfrm>
          <a:prstGeom prst="rect">
            <a:avLst/>
          </a:prstGeom>
          <a:solidFill>
            <a:srgbClr val="111827"/>
          </a:solidFill>
          <a:ln w="381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9509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Digital COO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25512" y="905256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334155"/>
          </a:solidFill>
          <a:ln w="9525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98664" y="964692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FY 2026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8366760" y="905256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334155"/>
          </a:solidFill>
          <a:ln w="9525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964692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9208008" y="905256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334155"/>
          </a:solidFill>
          <a:ln w="9525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1160" y="964692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10049256" y="905256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334155"/>
          </a:solidFill>
          <a:ln w="9525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22408" y="964692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Theme</a:t>
            </a:r>
            <a:endParaRPr lang="en-US" sz="550" dirty="0"/>
          </a:p>
        </p:txBody>
      </p:sp>
      <p:sp>
        <p:nvSpPr>
          <p:cNvPr id="16" name="Shape 14"/>
          <p:cNvSpPr/>
          <p:nvPr/>
        </p:nvSpPr>
        <p:spPr>
          <a:xfrm>
            <a:off x="6336792" y="1581912"/>
            <a:ext cx="235915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1581912"/>
            <a:ext cx="2359152" cy="64008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183794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$58.9M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519672" y="2331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health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78824" y="1581912"/>
            <a:ext cx="235915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78824" y="1581912"/>
            <a:ext cx="2359152" cy="64008"/>
          </a:xfrm>
          <a:prstGeom prst="rect">
            <a:avLst/>
          </a:prstGeom>
          <a:solidFill>
            <a:srgbClr val="10B981"/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61704" y="183794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$18.2M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061704" y="2331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balance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1420856" y="1581912"/>
            <a:ext cx="235915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420856" y="1581912"/>
            <a:ext cx="2359152" cy="64008"/>
          </a:xfrm>
          <a:prstGeom prst="rect">
            <a:avLst/>
          </a:prstGeom>
          <a:solidFill>
            <a:srgbClr val="7C3AED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03736" y="183794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1603736" y="233172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signal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36792" y="3063240"/>
            <a:ext cx="4800600" cy="1691640"/>
          </a:xfrm>
          <a:prstGeom prst="roundRect">
            <a:avLst>
              <a:gd name="adj" fmla="val 4324"/>
            </a:avLst>
          </a:prstGeom>
          <a:solidFill>
            <a:srgbClr val="F1F5F9"/>
          </a:solidFill>
          <a:ln w="9525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story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56248" y="36667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movement is translated into risk, action, and owner-ready next steps.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11430000" y="306324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ECFE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58600" y="32826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 Bot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658600" y="36850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075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changed, why it matters, and what to do next.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40080" y="39502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8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KPIs, AI explanations, scenario action, and mobile access now sit in one operating surface.</a:t>
            </a:r>
            <a:endParaRPr lang="en-US" sz="1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executive surface turns scattered signals into operating context.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0352" y="1627632"/>
            <a:ext cx="11137392" cy="9144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94560"/>
            <a:ext cx="235915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194560"/>
            <a:ext cx="2359152" cy="64008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50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$58.9M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2194560"/>
            <a:ext cx="235915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194560"/>
            <a:ext cx="2359152" cy="64008"/>
          </a:xfrm>
          <a:prstGeom prst="rect">
            <a:avLst/>
          </a:prstGeom>
          <a:solidFill>
            <a:srgbClr val="10B981"/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450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$18.2M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520440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2194560"/>
            <a:ext cx="235915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2194560"/>
            <a:ext cx="2359152" cy="64008"/>
          </a:xfrm>
          <a:prstGeom prst="rect">
            <a:avLst/>
          </a:prstGeom>
          <a:solidFill>
            <a:srgbClr val="7C3AED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450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127.8K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172200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41080" y="2194560"/>
            <a:ext cx="2359152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1080" y="2194560"/>
            <a:ext cx="2359152" cy="64008"/>
          </a:xfrm>
          <a:prstGeom prst="rect">
            <a:avLst/>
          </a:prstGeom>
          <a:solidFill>
            <a:srgbClr val="F97316"/>
          </a:solidFill>
          <a:ln w="381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2450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823960" y="29443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CSAT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39776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 can read health, status, updates, and fiscal-year movement without switching tools.</a:t>
            </a:r>
            <a:endParaRPr lang="en-US" sz="14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126480" y="3822192"/>
          <a:ext cx="466344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STORY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 Bot makes the dashboard conversational without losing business discipline.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0352" y="1627632"/>
            <a:ext cx="11137392" cy="9144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92808"/>
            <a:ext cx="2377440" cy="4297680"/>
          </a:xfrm>
          <a:prstGeom prst="roundRect">
            <a:avLst>
              <a:gd name="adj" fmla="val 6923"/>
            </a:avLst>
          </a:prstGeom>
          <a:solidFill>
            <a:srgbClr val="111827"/>
          </a:solidFill>
          <a:ln w="9525">
            <a:solidFill>
              <a:srgbClr val="0206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" y="2057400"/>
            <a:ext cx="2048256" cy="396849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2057400"/>
            <a:ext cx="2048256" cy="502920"/>
          </a:xfrm>
          <a:prstGeom prst="rect">
            <a:avLst/>
          </a:prstGeom>
          <a:solidFill>
            <a:srgbClr val="111827"/>
          </a:solidFill>
          <a:ln w="381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43584" y="223113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 AI Assistant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261872" y="2807208"/>
            <a:ext cx="1627632" cy="603504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9525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2962656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Hi, I can explain the numbers.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1481328" y="3630168"/>
            <a:ext cx="1408176" cy="530352"/>
          </a:xfrm>
          <a:prstGeom prst="roundRect">
            <a:avLst>
              <a:gd name="adj" fmla="val 17241"/>
            </a:avLst>
          </a:prstGeom>
          <a:solidFill>
            <a:srgbClr val="EDE9FE"/>
          </a:solidFill>
          <a:ln w="9525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27632" y="378561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in revenue?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261872" y="4434840"/>
            <a:ext cx="1627632" cy="694944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 w="9525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8176" y="458114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is up, with cash and CSAT still in range.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1261872" y="5422392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3744" y="5422392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2148840"/>
            <a:ext cx="4434840" cy="475488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22585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6995160" y="227685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plain-English readout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160520" y="2788920"/>
            <a:ext cx="4434840" cy="475488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9525">
            <a:solidFill>
              <a:srgbClr val="FEF2F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8986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99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6995160" y="29169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991B1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watchlist first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160520" y="3429000"/>
            <a:ext cx="4434840" cy="475488"/>
          </a:xfrm>
          <a:prstGeom prst="roundRect">
            <a:avLst>
              <a:gd name="adj" fmla="val 15385"/>
            </a:avLst>
          </a:prstGeom>
          <a:solidFill>
            <a:srgbClr val="ECFDF5"/>
          </a:solidFill>
          <a:ln w="9525">
            <a:solidFill>
              <a:srgbClr val="ECFDF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35387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6995160" y="35570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065F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best move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160520" y="4069080"/>
            <a:ext cx="4434840" cy="475488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9525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41788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E4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Trends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6995160" y="41970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1E4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fiscal context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160520" y="489204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fix: opening the assistant now behaves like a full-screen drawer, keeps the input reachable, and hides the floating bot while active.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data can enter through files or AI-assisted extraction.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0352" y="1627632"/>
            <a:ext cx="11137392" cy="9144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4343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upload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9992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.xlsx, .xls, or .pbix files and map KPI columns into the dashboard.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097280" y="3977640"/>
            <a:ext cx="3291840" cy="27432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2702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-&gt; Detect KPIs -&gt; AI Analysis -&gt; Apply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446520" y="2148840"/>
            <a:ext cx="4343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import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20840" y="299923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company metrics in natural language and let AI extract fiscal-year KPI values.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720840" y="3977640"/>
            <a:ext cx="3291840" cy="27432"/>
          </a:xfrm>
          <a:prstGeom prst="rect">
            <a:avLst/>
          </a:prstGeom>
          <a:solidFill>
            <a:srgbClr val="7C3AED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42702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prompt -&gt; Extract -&gt; Validate -&gt; Refresh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WORKFORCE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 workflows turn a metric change into an investigation path.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0352" y="1627632"/>
            <a:ext cx="11137392" cy="9144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" y="2578608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3264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Agent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1042416" y="36850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Pipeline, win rate, segment movement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520440" y="22860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39896" y="2578608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9896" y="3264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Agent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3739896" y="36850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Margin, cash, runway, EBITDA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2578608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3264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Agent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6437376" y="36850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CSAT, uptime, support pressure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915400" y="22860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4856" y="2578608"/>
            <a:ext cx="438912" cy="438912"/>
          </a:xfrm>
          <a:prstGeom prst="roundRect">
            <a:avLst>
              <a:gd name="adj" fmla="val 1041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4856" y="32644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Agent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9134856" y="36850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synthesis and action framing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1554480" y="51206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do the digging; the dashboard keeps the executive view focused on decision-ready signal.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 and simulations make recommended moves safer to execute.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0352" y="1627632"/>
            <a:ext cx="11137392" cy="9144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approval modal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99008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immediately or set an undo window when a generated action needs time-boxed review.</a:t>
            </a:r>
            <a:endParaRPr lang="en-US" sz="1310" dirty="0"/>
          </a:p>
        </p:txBody>
      </p:sp>
      <p:sp>
        <p:nvSpPr>
          <p:cNvPr id="8" name="Shape 6"/>
          <p:cNvSpPr/>
          <p:nvPr/>
        </p:nvSpPr>
        <p:spPr>
          <a:xfrm>
            <a:off x="1143000" y="4096512"/>
            <a:ext cx="67665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422452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sec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4096512"/>
            <a:ext cx="67665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422452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880360" y="4096512"/>
            <a:ext cx="67665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35224" y="422452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49040" y="4096512"/>
            <a:ext cx="67665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422452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46520" y="2103120"/>
            <a:ext cx="4754880" cy="3063240"/>
          </a:xfrm>
          <a:prstGeom prst="roundRect">
            <a:avLst>
              <a:gd name="adj" fmla="val 2388"/>
            </a:avLst>
          </a:prstGeom>
          <a:solidFill>
            <a:srgbClr val="ECFE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banner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299008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0759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scenario is active, the header-level banner keeps context visible until reset.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6766560" y="4069080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421538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active    Reset to live data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pages preserve context while giving each team the detail view it needs.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0352" y="1627632"/>
            <a:ext cx="11137392" cy="9144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4480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48840"/>
            <a:ext cx="91440" cy="1170432"/>
          </a:xfrm>
          <a:prstGeom prst="rect">
            <a:avLst/>
          </a:prstGeom>
          <a:solidFill>
            <a:srgbClr val="10B981"/>
          </a:solidFill>
          <a:ln w="381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9576" y="2404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79576" y="28529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Cash, margin, runway, revenue quality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80760" y="2148840"/>
            <a:ext cx="4480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2148840"/>
            <a:ext cx="91440" cy="1170432"/>
          </a:xfrm>
          <a:prstGeom prst="rect">
            <a:avLst/>
          </a:prstGeom>
          <a:solidFill>
            <a:srgbClr val="2563EB"/>
          </a:solidFill>
          <a:ln w="381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2404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391656" y="285292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Pipeline, conversion, deal health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721608"/>
            <a:ext cx="4480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721608"/>
            <a:ext cx="91440" cy="1170432"/>
          </a:xfrm>
          <a:prstGeom prst="rect">
            <a:avLst/>
          </a:prstGeom>
          <a:solidFill>
            <a:srgbClr val="F97316"/>
          </a:solidFill>
          <a:ln w="381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9576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79576" y="44256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quality, uptime, support load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3721608"/>
            <a:ext cx="4480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3721608"/>
            <a:ext cx="91440" cy="1170432"/>
          </a:xfrm>
          <a:prstGeom prst="rect">
            <a:avLst/>
          </a:prstGeom>
          <a:solidFill>
            <a:srgbClr val="7C3AED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656" y="3977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91656" y="442569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analysis and AI report generation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AND DELIVERY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8961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experience now supports mobile use and presentation access from the main header.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30352" y="1627632"/>
            <a:ext cx="11137392" cy="9144"/>
          </a:xfrm>
          <a:prstGeom prst="rect">
            <a:avLst/>
          </a:prstGeom>
          <a:solidFill>
            <a:srgbClr val="CBD5E1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3108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340864"/>
            <a:ext cx="2377440" cy="4297680"/>
          </a:xfrm>
          <a:prstGeom prst="roundRect">
            <a:avLst>
              <a:gd name="adj" fmla="val 6923"/>
            </a:avLst>
          </a:prstGeom>
          <a:solidFill>
            <a:srgbClr val="111827"/>
          </a:solidFill>
          <a:ln w="9525">
            <a:solidFill>
              <a:srgbClr val="0206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4752" y="2505456"/>
            <a:ext cx="2048256" cy="396849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44752" y="2505456"/>
            <a:ext cx="2048256" cy="502920"/>
          </a:xfrm>
          <a:prstGeom prst="rect">
            <a:avLst/>
          </a:prstGeom>
          <a:solidFill>
            <a:srgbClr val="111827"/>
          </a:solidFill>
          <a:ln w="381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9344" y="26791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 AI Assistant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1627632" y="3255264"/>
            <a:ext cx="1627632" cy="603504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9525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3410712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Hi, I can explain the numbers.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1847088" y="4078224"/>
            <a:ext cx="1408176" cy="530352"/>
          </a:xfrm>
          <a:prstGeom prst="roundRect">
            <a:avLst>
              <a:gd name="adj" fmla="val 17241"/>
            </a:avLst>
          </a:prstGeom>
          <a:solidFill>
            <a:srgbClr val="EDE9FE"/>
          </a:solidFill>
          <a:ln w="9525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42336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in revenue?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627632" y="4882896"/>
            <a:ext cx="1627632" cy="694944"/>
          </a:xfrm>
          <a:prstGeom prst="roundRect">
            <a:avLst>
              <a:gd name="adj" fmla="val 13158"/>
            </a:avLst>
          </a:prstGeom>
          <a:solidFill>
            <a:srgbClr val="F1F5F9"/>
          </a:solidFill>
          <a:ln w="9525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73936" y="50292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is up, with cash and CSAT still in range.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1627632" y="587044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9504" y="5870448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14884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5786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deck launcher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120640" y="310896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glowing presentation page now sits beside the theme control.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50992" y="4050792"/>
            <a:ext cx="694944" cy="694944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9525">
            <a:solidFill>
              <a:srgbClr val="67E8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70448" y="4224528"/>
            <a:ext cx="274320" cy="365760"/>
          </a:xfrm>
          <a:prstGeom prst="roundRect">
            <a:avLst>
              <a:gd name="adj" fmla="val 13333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2148840"/>
            <a:ext cx="2743200" cy="2606040"/>
          </a:xfrm>
          <a:prstGeom prst="roundRect">
            <a:avLst>
              <a:gd name="adj" fmla="val 2807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25786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review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549640" y="310896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the deck, open the bot on mobile, and continue iterating from this branch.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94A3B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Enterprise Digital COO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Digital COO Feature Tour</dc:title>
  <dc:subject>Feature tour</dc:subject>
  <dc:creator>Enterprise Digital COO</dc:creator>
  <cp:lastModifiedBy>Enterprise Digital COO</cp:lastModifiedBy>
  <cp:revision>1</cp:revision>
  <dcterms:created xsi:type="dcterms:W3CDTF">2026-07-09T17:49:04Z</dcterms:created>
  <dcterms:modified xsi:type="dcterms:W3CDTF">2026-07-09T17:49:04Z</dcterms:modified>
</cp:coreProperties>
</file>